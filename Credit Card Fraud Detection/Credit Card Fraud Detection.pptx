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61" r:id="rId1"/>
  </p:sldMasterIdLst>
  <p:sldIdLst>
    <p:sldId id="256" r:id="rId2"/>
    <p:sldId id="257" r:id="rId3"/>
    <p:sldId id="258" r:id="rId4"/>
    <p:sldId id="272" r:id="rId5"/>
    <p:sldId id="259" r:id="rId6"/>
    <p:sldId id="260" r:id="rId7"/>
    <p:sldId id="261" r:id="rId8"/>
    <p:sldId id="263" r:id="rId9"/>
    <p:sldId id="264" r:id="rId10"/>
    <p:sldId id="262" r:id="rId11"/>
    <p:sldId id="265" r:id="rId12"/>
    <p:sldId id="267" r:id="rId13"/>
    <p:sldId id="268" r:id="rId14"/>
    <p:sldId id="269" r:id="rId15"/>
    <p:sldId id="270" r:id="rId16"/>
    <p:sldId id="273"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40"/>
  </p:normalViewPr>
  <p:slideViewPr>
    <p:cSldViewPr snapToGrid="0" snapToObjects="1">
      <p:cViewPr varScale="1">
        <p:scale>
          <a:sx n="107" d="100"/>
          <a:sy n="107" d="100"/>
        </p:scale>
        <p:origin x="736" y="1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5" name="Footer Placeholder 4"/>
          <p:cNvSpPr>
            <a:spLocks noGrp="1"/>
          </p:cNvSpPr>
          <p:nvPr>
            <p:ph type="ftr" sz="quarter" idx="11"/>
          </p:nvPr>
        </p:nvSpPr>
        <p:spPr/>
        <p:txBody>
          <a:bodyPr/>
          <a:lstStyle/>
          <a:p>
            <a:endParaRPr lang="en-US" dirty="0">
              <a:solidFill>
                <a:schemeClr val="bg1"/>
              </a:solidFill>
            </a:endParaRPr>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1310610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1121141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646604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6" name="Footer Placeholder 5"/>
          <p:cNvSpPr>
            <a:spLocks noGrp="1"/>
          </p:cNvSpPr>
          <p:nvPr>
            <p:ph type="ftr" sz="quarter" idx="11"/>
          </p:nvPr>
        </p:nvSpPr>
        <p:spPr/>
        <p:txBody>
          <a:bodyPr/>
          <a:lstStyle/>
          <a:p>
            <a:endParaRPr lang="en-US" dirty="0">
              <a:solidFill>
                <a:schemeClr val="tx1"/>
              </a:solidFill>
            </a:endParaRPr>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9984820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lgn="r"/>
            <a:fld id="{A37D6D71-8B28-4ED6-B932-04B197003D23}" type="datetimeFigureOut">
              <a:rPr lang="en-US" smtClean="0"/>
              <a:pPr algn="r"/>
              <a:t>12/10/20</a:t>
            </a:fld>
            <a:endParaRPr lang="en-US" spc="50" dirty="0"/>
          </a:p>
        </p:txBody>
      </p:sp>
      <p:sp>
        <p:nvSpPr>
          <p:cNvPr id="8" name="Footer Placeholder 7"/>
          <p:cNvSpPr>
            <a:spLocks noGrp="1"/>
          </p:cNvSpPr>
          <p:nvPr>
            <p:ph type="ftr" sz="quarter" idx="11"/>
          </p:nvPr>
        </p:nvSpPr>
        <p:spPr/>
        <p:txBody>
          <a:bodyPr/>
          <a:lstStyle/>
          <a:p>
            <a:endParaRPr lang="en-US" spc="50"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6513354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4" name="Footer Placeholder 3"/>
          <p:cNvSpPr>
            <a:spLocks noGrp="1"/>
          </p:cNvSpPr>
          <p:nvPr>
            <p:ph type="ftr" sz="quarter" idx="11"/>
          </p:nvPr>
        </p:nvSpPr>
        <p:spPr/>
        <p:txBody>
          <a:bodyPr/>
          <a:lstStyle/>
          <a:p>
            <a:endParaRPr lang="en-US" dirty="0">
              <a:solidFill>
                <a:schemeClr val="tx1"/>
              </a:solidFill>
            </a:endParaRPr>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2695414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3" name="Footer Placeholder 2"/>
          <p:cNvSpPr>
            <a:spLocks noGrp="1"/>
          </p:cNvSpPr>
          <p:nvPr>
            <p:ph type="ftr" sz="quarter" idx="11"/>
          </p:nvPr>
        </p:nvSpPr>
        <p:spPr/>
        <p:txBody>
          <a:bodyPr/>
          <a:lstStyle/>
          <a:p>
            <a:endParaRPr lang="en-US" dirty="0">
              <a:solidFill>
                <a:schemeClr val="tx1"/>
              </a:solidFill>
            </a:endParaRPr>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2211797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6" name="Footer Placeholder 5"/>
          <p:cNvSpPr>
            <a:spLocks noGrp="1"/>
          </p:cNvSpPr>
          <p:nvPr>
            <p:ph type="ftr" sz="quarter" idx="11"/>
          </p:nvPr>
        </p:nvSpPr>
        <p:spPr/>
        <p:txBody>
          <a:bodyPr/>
          <a:lstStyle/>
          <a:p>
            <a:endParaRPr lang="en-US" dirty="0">
              <a:solidFill>
                <a:schemeClr val="tx1"/>
              </a:solidFill>
            </a:endParaRPr>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78062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8220651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12/10/20</a:t>
            </a:fld>
            <a:endParaRPr lang="en-US" spc="50" dirty="0"/>
          </a:p>
        </p:txBody>
      </p:sp>
      <p:sp>
        <p:nvSpPr>
          <p:cNvPr id="5" name="Footer Placeholder 4"/>
          <p:cNvSpPr>
            <a:spLocks noGrp="1"/>
          </p:cNvSpPr>
          <p:nvPr>
            <p:ph type="ftr" sz="quarter" idx="11"/>
          </p:nvPr>
        </p:nvSpPr>
        <p:spPr/>
        <p:txBody>
          <a:bodyPr/>
          <a:lstStyle/>
          <a:p>
            <a:endParaRPr lang="en-US" spc="50"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868713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12/10/20</a:t>
            </a:fld>
            <a:endParaRPr lang="en-US" spc="50" dirty="0"/>
          </a:p>
        </p:txBody>
      </p:sp>
      <p:sp>
        <p:nvSpPr>
          <p:cNvPr id="5" name="Footer Placeholder 4"/>
          <p:cNvSpPr>
            <a:spLocks noGrp="1"/>
          </p:cNvSpPr>
          <p:nvPr>
            <p:ph type="ftr" sz="quarter" idx="11"/>
          </p:nvPr>
        </p:nvSpPr>
        <p:spPr/>
        <p:txBody>
          <a:bodyPr/>
          <a:lstStyle/>
          <a:p>
            <a:endParaRPr lang="en-US" spc="50"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pPr algn="l"/>
            <a:fld id="{F97E8200-1950-409B-82E7-99938E7AE355}" type="slidenum">
              <a:rPr lang="en-US" smtClean="0"/>
              <a:pPr algn="l"/>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9812915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12/10/20</a:t>
            </a:fld>
            <a:endParaRPr lang="en-US" spc="50" dirty="0"/>
          </a:p>
        </p:txBody>
      </p:sp>
      <p:sp>
        <p:nvSpPr>
          <p:cNvPr id="6" name="Footer Placeholder 5"/>
          <p:cNvSpPr>
            <a:spLocks noGrp="1"/>
          </p:cNvSpPr>
          <p:nvPr>
            <p:ph type="ftr" sz="quarter" idx="11"/>
          </p:nvPr>
        </p:nvSpPr>
        <p:spPr/>
        <p:txBody>
          <a:bodyPr/>
          <a:lstStyle/>
          <a:p>
            <a:endParaRPr lang="en-US" spc="50"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8155177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12/10/20</a:t>
            </a:fld>
            <a:endParaRPr lang="en-US" spc="50" dirty="0"/>
          </a:p>
        </p:txBody>
      </p:sp>
      <p:sp>
        <p:nvSpPr>
          <p:cNvPr id="6" name="Footer Placeholder 5"/>
          <p:cNvSpPr>
            <a:spLocks noGrp="1"/>
          </p:cNvSpPr>
          <p:nvPr>
            <p:ph type="ftr" sz="quarter" idx="11"/>
          </p:nvPr>
        </p:nvSpPr>
        <p:spPr/>
        <p:txBody>
          <a:bodyPr/>
          <a:lstStyle/>
          <a:p>
            <a:endParaRPr lang="en-US" spc="50"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algn="l"/>
            <a:fld id="{F97E8200-1950-409B-82E7-99938E7AE355}" type="slidenum">
              <a:rPr lang="en-US" smtClean="0"/>
              <a:pPr algn="l"/>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657549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12/10/20</a:t>
            </a:fld>
            <a:endParaRPr lang="en-US" spc="50" dirty="0"/>
          </a:p>
        </p:txBody>
      </p:sp>
      <p:sp>
        <p:nvSpPr>
          <p:cNvPr id="6" name="Footer Placeholder 5"/>
          <p:cNvSpPr>
            <a:spLocks noGrp="1"/>
          </p:cNvSpPr>
          <p:nvPr>
            <p:ph type="ftr" sz="quarter" idx="11"/>
          </p:nvPr>
        </p:nvSpPr>
        <p:spPr/>
        <p:txBody>
          <a:bodyPr/>
          <a:lstStyle/>
          <a:p>
            <a:endParaRPr lang="en-US" spc="50"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6337479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1064191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12/10/20</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806114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pPr algn="r"/>
            <a:fld id="{A37D6D71-8B28-4ED6-B932-04B197003D23}" type="datetimeFigureOut">
              <a:rPr lang="en-US" smtClean="0"/>
              <a:pPr algn="r"/>
              <a:t>12/10/20</a:t>
            </a:fld>
            <a:endParaRPr lang="en-US" spc="50"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spc="50"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713425102"/>
      </p:ext>
    </p:extLst>
  </p:cSld>
  <p:clrMap bg1="lt1" tx1="dk1" bg2="lt2" tx2="dk2" accent1="accent1" accent2="accent2" accent3="accent3" accent4="accent4" accent5="accent5" accent6="accent6" hlink="hlink" folHlink="folHlink"/>
  <p:sldLayoutIdLst>
    <p:sldLayoutId id="2147483862" r:id="rId1"/>
    <p:sldLayoutId id="2147483863" r:id="rId2"/>
    <p:sldLayoutId id="2147483864" r:id="rId3"/>
    <p:sldLayoutId id="2147483865" r:id="rId4"/>
    <p:sldLayoutId id="2147483866" r:id="rId5"/>
    <p:sldLayoutId id="2147483867" r:id="rId6"/>
    <p:sldLayoutId id="2147483868" r:id="rId7"/>
    <p:sldLayoutId id="2147483869" r:id="rId8"/>
    <p:sldLayoutId id="2147483870" r:id="rId9"/>
    <p:sldLayoutId id="2147483871" r:id="rId10"/>
    <p:sldLayoutId id="2147483872" r:id="rId11"/>
    <p:sldLayoutId id="2147483873" r:id="rId12"/>
    <p:sldLayoutId id="2147483874" r:id="rId13"/>
    <p:sldLayoutId id="2147483875" r:id="rId14"/>
    <p:sldLayoutId id="2147483876" r:id="rId15"/>
    <p:sldLayoutId id="2147483877"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4000"/>
                <a:satMod val="80000"/>
                <a:lumMod val="106000"/>
              </a:schemeClr>
            </a:gs>
            <a:gs pos="100000">
              <a:schemeClr val="bg2">
                <a:shade val="80000"/>
              </a:schemeClr>
            </a:gs>
          </a:gsLst>
          <a:path path="circle">
            <a:fillToRect l="43000" r="43000" b="100000"/>
          </a:path>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9B7DC-51B8-7C4A-AD7E-C6F258B16E21}"/>
              </a:ext>
            </a:extLst>
          </p:cNvPr>
          <p:cNvSpPr>
            <a:spLocks noGrp="1"/>
          </p:cNvSpPr>
          <p:nvPr>
            <p:ph type="ctrTitle"/>
          </p:nvPr>
        </p:nvSpPr>
        <p:spPr>
          <a:xfrm>
            <a:off x="2630384" y="2561884"/>
            <a:ext cx="8159834" cy="1126283"/>
          </a:xfrm>
        </p:spPr>
        <p:txBody>
          <a:bodyPr>
            <a:normAutofit fontScale="90000"/>
          </a:bodyPr>
          <a:lstStyle/>
          <a:p>
            <a:r>
              <a:rPr lang="en-US" sz="6000" dirty="0">
                <a:latin typeface="Calibri" panose="020F0502020204030204" pitchFamily="34" charset="0"/>
                <a:cs typeface="Calibri" panose="020F0502020204030204" pitchFamily="34" charset="0"/>
              </a:rPr>
              <a:t>Credit Card Fraud Detection</a:t>
            </a:r>
          </a:p>
        </p:txBody>
      </p:sp>
      <p:sp>
        <p:nvSpPr>
          <p:cNvPr id="3" name="Subtitle 2">
            <a:extLst>
              <a:ext uri="{FF2B5EF4-FFF2-40B4-BE49-F238E27FC236}">
                <a16:creationId xmlns:a16="http://schemas.microsoft.com/office/drawing/2014/main" id="{B7DE9280-6EB0-0F49-BE1B-ACFF0892DCD2}"/>
              </a:ext>
            </a:extLst>
          </p:cNvPr>
          <p:cNvSpPr>
            <a:spLocks noGrp="1"/>
          </p:cNvSpPr>
          <p:nvPr>
            <p:ph type="subTitle" idx="1"/>
          </p:nvPr>
        </p:nvSpPr>
        <p:spPr>
          <a:xfrm>
            <a:off x="3276601" y="4296116"/>
            <a:ext cx="8915399" cy="1126283"/>
          </a:xfrm>
        </p:spPr>
        <p:txBody>
          <a:bodyPr>
            <a:normAutofit/>
          </a:bodyPr>
          <a:lstStyle/>
          <a:p>
            <a:pPr lvl="8"/>
            <a:r>
              <a:rPr lang="en-US" sz="2400" dirty="0">
                <a:solidFill>
                  <a:schemeClr val="tx1"/>
                </a:solidFill>
                <a:latin typeface="Calibri" panose="020F0502020204030204" pitchFamily="34" charset="0"/>
                <a:cs typeface="Calibri" panose="020F0502020204030204" pitchFamily="34" charset="0"/>
              </a:rPr>
              <a:t>By </a:t>
            </a:r>
          </a:p>
          <a:p>
            <a:pPr lvl="8"/>
            <a:r>
              <a:rPr lang="en-US" sz="2400" dirty="0" err="1">
                <a:solidFill>
                  <a:schemeClr val="tx1"/>
                </a:solidFill>
                <a:latin typeface="Calibri" panose="020F0502020204030204" pitchFamily="34" charset="0"/>
                <a:cs typeface="Calibri" panose="020F0502020204030204" pitchFamily="34" charset="0"/>
              </a:rPr>
              <a:t>Srimukha</a:t>
            </a:r>
            <a:r>
              <a:rPr lang="en-US" sz="2400" dirty="0">
                <a:solidFill>
                  <a:schemeClr val="tx1"/>
                </a:solidFill>
                <a:latin typeface="Calibri" panose="020F0502020204030204" pitchFamily="34" charset="0"/>
                <a:cs typeface="Calibri" panose="020F0502020204030204" pitchFamily="34" charset="0"/>
              </a:rPr>
              <a:t> </a:t>
            </a:r>
            <a:r>
              <a:rPr lang="en-US" sz="2400" dirty="0" err="1">
                <a:solidFill>
                  <a:schemeClr val="tx1"/>
                </a:solidFill>
                <a:latin typeface="Calibri" panose="020F0502020204030204" pitchFamily="34" charset="0"/>
                <a:cs typeface="Calibri" panose="020F0502020204030204" pitchFamily="34" charset="0"/>
              </a:rPr>
              <a:t>Vasireddy</a:t>
            </a:r>
            <a:endParaRPr lang="en-US" sz="24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60467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D4F28B-3FFE-A24B-BF28-E1D768C3E73B}"/>
              </a:ext>
            </a:extLst>
          </p:cNvPr>
          <p:cNvSpPr>
            <a:spLocks noGrp="1"/>
          </p:cNvSpPr>
          <p:nvPr>
            <p:ph type="title"/>
          </p:nvPr>
        </p:nvSpPr>
        <p:spPr>
          <a:xfrm>
            <a:off x="1546178" y="491763"/>
            <a:ext cx="8911687" cy="699364"/>
          </a:xfrm>
        </p:spPr>
        <p:txBody>
          <a:bodyPr/>
          <a:lstStyle/>
          <a:p>
            <a:r>
              <a:rPr lang="en-US" dirty="0">
                <a:latin typeface="Calibri" panose="020F0502020204030204" pitchFamily="34" charset="0"/>
                <a:cs typeface="Calibri" panose="020F0502020204030204" pitchFamily="34" charset="0"/>
              </a:rPr>
              <a:t>Contents</a:t>
            </a:r>
          </a:p>
        </p:txBody>
      </p:sp>
      <p:sp>
        <p:nvSpPr>
          <p:cNvPr id="3" name="Content Placeholder 2">
            <a:extLst>
              <a:ext uri="{FF2B5EF4-FFF2-40B4-BE49-F238E27FC236}">
                <a16:creationId xmlns:a16="http://schemas.microsoft.com/office/drawing/2014/main" id="{36ACD176-F2FE-A64E-9625-BD42C5EE0C1A}"/>
              </a:ext>
            </a:extLst>
          </p:cNvPr>
          <p:cNvSpPr>
            <a:spLocks noGrp="1"/>
          </p:cNvSpPr>
          <p:nvPr>
            <p:ph idx="1"/>
          </p:nvPr>
        </p:nvSpPr>
        <p:spPr>
          <a:xfrm>
            <a:off x="1638299" y="1435769"/>
            <a:ext cx="9453253" cy="5083784"/>
          </a:xfrm>
        </p:spPr>
        <p:txBody>
          <a:bodyPr>
            <a:normAutofit/>
          </a:bodyPr>
          <a:lstStyle/>
          <a:p>
            <a:r>
              <a:rPr lang="en-US" sz="2800" dirty="0">
                <a:latin typeface="Calibri" panose="020F0502020204030204" pitchFamily="34" charset="0"/>
                <a:cs typeface="Calibri" panose="020F0502020204030204" pitchFamily="34" charset="0"/>
              </a:rPr>
              <a:t>Introduction to the problem</a:t>
            </a:r>
          </a:p>
          <a:p>
            <a:r>
              <a:rPr lang="en-US" sz="2800" dirty="0">
                <a:latin typeface="Calibri" panose="020F0502020204030204" pitchFamily="34" charset="0"/>
                <a:cs typeface="Calibri" panose="020F0502020204030204" pitchFamily="34" charset="0"/>
              </a:rPr>
              <a:t>Why machine Learning is needed to detect fraud transactions</a:t>
            </a:r>
          </a:p>
          <a:p>
            <a:r>
              <a:rPr lang="en-US" sz="2800" dirty="0">
                <a:latin typeface="Calibri" panose="020F0502020204030204" pitchFamily="34" charset="0"/>
                <a:cs typeface="Calibri" panose="020F0502020204030204" pitchFamily="34" charset="0"/>
              </a:rPr>
              <a:t>Exploring machine Learning Technique</a:t>
            </a:r>
          </a:p>
          <a:p>
            <a:r>
              <a:rPr lang="en-US" sz="2800" dirty="0">
                <a:latin typeface="Calibri" panose="020F0502020204030204" pitchFamily="34" charset="0"/>
                <a:cs typeface="Calibri" panose="020F0502020204030204" pitchFamily="34" charset="0"/>
              </a:rPr>
              <a:t>How a machine learning model gets implemented</a:t>
            </a:r>
          </a:p>
          <a:p>
            <a:r>
              <a:rPr lang="en-US" sz="2800" dirty="0">
                <a:latin typeface="Calibri" panose="020F0502020204030204" pitchFamily="34" charset="0"/>
                <a:cs typeface="Calibri" panose="020F0502020204030204" pitchFamily="34" charset="0"/>
              </a:rPr>
              <a:t>Use cases of machine learning Technique</a:t>
            </a:r>
          </a:p>
          <a:p>
            <a:r>
              <a:rPr lang="en-US" sz="2800" dirty="0">
                <a:latin typeface="Calibri" panose="020F0502020204030204" pitchFamily="34" charset="0"/>
                <a:cs typeface="Calibri" panose="020F0502020204030204" pitchFamily="34" charset="0"/>
              </a:rPr>
              <a:t>Pros and Cons of the technique</a:t>
            </a:r>
          </a:p>
          <a:p>
            <a:r>
              <a:rPr lang="en-US" sz="2800" dirty="0">
                <a:latin typeface="Calibri" panose="020F0502020204030204" pitchFamily="34" charset="0"/>
                <a:cs typeface="Calibri" panose="020F0502020204030204" pitchFamily="34" charset="0"/>
              </a:rPr>
              <a:t>References</a:t>
            </a:r>
          </a:p>
          <a:p>
            <a:endParaRPr lang="en-US" sz="2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8475313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D3FCA-D5F6-1C40-8056-D9ABC04B323B}"/>
              </a:ext>
            </a:extLst>
          </p:cNvPr>
          <p:cNvSpPr>
            <a:spLocks noGrp="1"/>
          </p:cNvSpPr>
          <p:nvPr>
            <p:ph type="title"/>
          </p:nvPr>
        </p:nvSpPr>
        <p:spPr>
          <a:xfrm>
            <a:off x="1640156" y="306333"/>
            <a:ext cx="8911687" cy="640445"/>
          </a:xfrm>
        </p:spPr>
        <p:txBody>
          <a:bodyPr/>
          <a:lstStyle/>
          <a:p>
            <a:r>
              <a:rPr lang="en-US" dirty="0">
                <a:latin typeface="Calibri" panose="020F0502020204030204" pitchFamily="34" charset="0"/>
                <a:cs typeface="Calibri" panose="020F0502020204030204" pitchFamily="34" charset="0"/>
              </a:rPr>
              <a:t>Introduction to the requirement</a:t>
            </a:r>
          </a:p>
        </p:txBody>
      </p:sp>
      <p:sp>
        <p:nvSpPr>
          <p:cNvPr id="3" name="Content Placeholder 2">
            <a:extLst>
              <a:ext uri="{FF2B5EF4-FFF2-40B4-BE49-F238E27FC236}">
                <a16:creationId xmlns:a16="http://schemas.microsoft.com/office/drawing/2014/main" id="{AB0A865A-D990-0549-ADE5-560097BE76E1}"/>
              </a:ext>
            </a:extLst>
          </p:cNvPr>
          <p:cNvSpPr>
            <a:spLocks noGrp="1"/>
          </p:cNvSpPr>
          <p:nvPr>
            <p:ph idx="1"/>
          </p:nvPr>
        </p:nvSpPr>
        <p:spPr>
          <a:xfrm>
            <a:off x="1640155" y="1339515"/>
            <a:ext cx="9922191" cy="5212151"/>
          </a:xfrm>
        </p:spPr>
        <p:txBody>
          <a:bodyPr>
            <a:noAutofit/>
          </a:bodyPr>
          <a:lstStyle/>
          <a:p>
            <a:r>
              <a:rPr lang="en-US" sz="2400" dirty="0">
                <a:latin typeface="Calibri" panose="020F0502020204030204" pitchFamily="34" charset="0"/>
                <a:cs typeface="Calibri" panose="020F0502020204030204" pitchFamily="34" charset="0"/>
              </a:rPr>
              <a:t>Credit cards are the staple of conveniency in modern world, but with the constant fear of theft or a breach in security, banks have upgraded fraud detection software with the power of machine learning and advanced classification algorithms. </a:t>
            </a:r>
          </a:p>
          <a:p>
            <a:r>
              <a:rPr lang="en-US" sz="2400" dirty="0">
                <a:latin typeface="Calibri" panose="020F0502020204030204" pitchFamily="34" charset="0"/>
                <a:cs typeface="Calibri" panose="020F0502020204030204" pitchFamily="34" charset="0"/>
              </a:rPr>
              <a:t>With the machine learning techniques credit card companies shall be able to recognize fraudulent credit card transactions so that customers are not charged for items that they did not purchase.</a:t>
            </a:r>
          </a:p>
          <a:p>
            <a:r>
              <a:rPr lang="en-US" sz="2400" dirty="0">
                <a:latin typeface="Calibri" panose="020F0502020204030204" pitchFamily="34" charset="0"/>
                <a:cs typeface="Calibri" panose="020F0502020204030204" pitchFamily="34" charset="0"/>
              </a:rPr>
              <a:t>We will use a machine learning algorithm that will be able to discern fraudulent from non-fraudulent one. </a:t>
            </a:r>
          </a:p>
          <a:p>
            <a:r>
              <a:rPr lang="en-US" sz="2400" dirty="0">
                <a:latin typeface="Calibri" panose="020F0502020204030204" pitchFamily="34" charset="0"/>
                <a:cs typeface="Calibri" panose="020F0502020204030204" pitchFamily="34" charset="0"/>
              </a:rPr>
              <a:t>Here I would like to use Logistic regression model which predicts whether the transaction is fraud or not. To explain this in detail I have taken a data set which contains credit card transactions. </a:t>
            </a:r>
          </a:p>
        </p:txBody>
      </p:sp>
    </p:spTree>
    <p:extLst>
      <p:ext uri="{BB962C8B-B14F-4D97-AF65-F5344CB8AC3E}">
        <p14:creationId xmlns:p14="http://schemas.microsoft.com/office/powerpoint/2010/main" val="109170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156CC-4C0C-0544-86CE-59FEB7491E63}"/>
              </a:ext>
            </a:extLst>
          </p:cNvPr>
          <p:cNvSpPr>
            <a:spLocks noGrp="1"/>
          </p:cNvSpPr>
          <p:nvPr>
            <p:ph type="title"/>
          </p:nvPr>
        </p:nvSpPr>
        <p:spPr>
          <a:xfrm>
            <a:off x="1208110" y="172847"/>
            <a:ext cx="10529309" cy="646550"/>
          </a:xfrm>
        </p:spPr>
        <p:txBody>
          <a:bodyPr>
            <a:noAutofit/>
          </a:bodyPr>
          <a:lstStyle/>
          <a:p>
            <a:r>
              <a:rPr lang="en-US" sz="2800" b="1" dirty="0">
                <a:latin typeface="Calibri" panose="020F0502020204030204" pitchFamily="34" charset="0"/>
                <a:cs typeface="Calibri" panose="020F0502020204030204" pitchFamily="34" charset="0"/>
              </a:rPr>
              <a:t>Why machine Learning is needed to detect fraud transactions</a:t>
            </a:r>
            <a:br>
              <a:rPr lang="en-US" sz="2800" b="1" dirty="0">
                <a:latin typeface="Calibri" panose="020F0502020204030204" pitchFamily="34" charset="0"/>
                <a:cs typeface="Calibri" panose="020F0502020204030204" pitchFamily="34" charset="0"/>
              </a:rPr>
            </a:br>
            <a:endParaRPr lang="en-US" sz="2800" b="1" dirty="0"/>
          </a:p>
        </p:txBody>
      </p:sp>
      <p:sp>
        <p:nvSpPr>
          <p:cNvPr id="3" name="Content Placeholder 2">
            <a:extLst>
              <a:ext uri="{FF2B5EF4-FFF2-40B4-BE49-F238E27FC236}">
                <a16:creationId xmlns:a16="http://schemas.microsoft.com/office/drawing/2014/main" id="{76BB1B96-22D1-C847-B7DC-672BA4F4295B}"/>
              </a:ext>
            </a:extLst>
          </p:cNvPr>
          <p:cNvSpPr>
            <a:spLocks noGrp="1"/>
          </p:cNvSpPr>
          <p:nvPr>
            <p:ph idx="1"/>
          </p:nvPr>
        </p:nvSpPr>
        <p:spPr>
          <a:xfrm>
            <a:off x="1524145" y="819397"/>
            <a:ext cx="10529308" cy="6038603"/>
          </a:xfrm>
        </p:spPr>
        <p:txBody>
          <a:bodyPr>
            <a:noAutofit/>
          </a:bodyPr>
          <a:lstStyle/>
          <a:p>
            <a:r>
              <a:rPr lang="en-US" sz="2400" dirty="0">
                <a:solidFill>
                  <a:schemeClr val="tx1"/>
                </a:solidFill>
                <a:latin typeface="Calibri" panose="020F0502020204030204" pitchFamily="34" charset="0"/>
                <a:cs typeface="Calibri" panose="020F0502020204030204" pitchFamily="34" charset="0"/>
              </a:rPr>
              <a:t>Frauds can be committed in different ways at different times and from different places , which is impossible to track manually. </a:t>
            </a:r>
          </a:p>
          <a:p>
            <a:r>
              <a:rPr lang="en-US" sz="2400" dirty="0">
                <a:solidFill>
                  <a:schemeClr val="tx1"/>
                </a:solidFill>
                <a:latin typeface="Calibri" panose="020F0502020204030204" pitchFamily="34" charset="0"/>
                <a:cs typeface="Calibri" panose="020F0502020204030204" pitchFamily="34" charset="0"/>
              </a:rPr>
              <a:t>Some companies detect the fraud transactions using IP address, geolocation, device identification and some other patterns and it is not giving high success rate , because fraud transactions doesn’t happen in the same pattern as we expect.</a:t>
            </a:r>
          </a:p>
          <a:p>
            <a:r>
              <a:rPr lang="en-US" sz="2400" dirty="0">
                <a:solidFill>
                  <a:schemeClr val="tx1"/>
                </a:solidFill>
                <a:latin typeface="Calibri" panose="020F0502020204030204" pitchFamily="34" charset="0"/>
                <a:cs typeface="Calibri" panose="020F0502020204030204" pitchFamily="34" charset="0"/>
              </a:rPr>
              <a:t>Credit Card Fraud Detection with Machine Learning is a process of data investigation by a Data Science team and the development of a model that will provide the best results in revealing and preventing fraudulent transactions. </a:t>
            </a:r>
          </a:p>
          <a:p>
            <a:r>
              <a:rPr lang="en-US" sz="2400" dirty="0">
                <a:solidFill>
                  <a:schemeClr val="tx1"/>
                </a:solidFill>
                <a:latin typeface="Calibri" panose="020F0502020204030204" pitchFamily="34" charset="0"/>
                <a:cs typeface="Calibri" panose="020F0502020204030204" pitchFamily="34" charset="0"/>
              </a:rPr>
              <a:t>This is achieved through bringing together all meaningful features of card users’ transactions, such as Date, User Zone, Product Category, Amount, Provider, Client’s Behavioral Patterns, etc. The information is then run through a subtly trained model that finds patterns and rules so that it can classify whether a transaction is fraudulent or is legitimate.</a:t>
            </a:r>
          </a:p>
          <a:p>
            <a:endParaRPr lang="en-US" sz="2400" dirty="0">
              <a:solidFill>
                <a:schemeClr val="tx1"/>
              </a:solidFill>
              <a:latin typeface="Calibri" panose="020F0502020204030204" pitchFamily="34" charset="0"/>
              <a:cs typeface="Calibri" panose="020F0502020204030204" pitchFamily="34" charset="0"/>
            </a:endParaRPr>
          </a:p>
          <a:p>
            <a:endParaRPr lang="en-US" sz="2400" dirty="0">
              <a:solidFill>
                <a:schemeClr val="tx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97453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A214C-A83E-6147-BAB5-EA3E31084A5C}"/>
              </a:ext>
            </a:extLst>
          </p:cNvPr>
          <p:cNvSpPr>
            <a:spLocks noGrp="1"/>
          </p:cNvSpPr>
          <p:nvPr>
            <p:ph type="title"/>
          </p:nvPr>
        </p:nvSpPr>
        <p:spPr>
          <a:xfrm>
            <a:off x="1762746" y="443636"/>
            <a:ext cx="8911687" cy="699364"/>
          </a:xfrm>
        </p:spPr>
        <p:txBody>
          <a:bodyPr/>
          <a:lstStyle/>
          <a:p>
            <a:r>
              <a:rPr lang="en-US" dirty="0">
                <a:latin typeface="Calibri" panose="020F0502020204030204" pitchFamily="34" charset="0"/>
                <a:cs typeface="Calibri" panose="020F0502020204030204" pitchFamily="34" charset="0"/>
              </a:rPr>
              <a:t>Machine Learning Technique - Regression</a:t>
            </a:r>
          </a:p>
        </p:txBody>
      </p:sp>
      <p:sp>
        <p:nvSpPr>
          <p:cNvPr id="3" name="Content Placeholder 2">
            <a:extLst>
              <a:ext uri="{FF2B5EF4-FFF2-40B4-BE49-F238E27FC236}">
                <a16:creationId xmlns:a16="http://schemas.microsoft.com/office/drawing/2014/main" id="{F4D4BE43-E2AE-6844-A293-26EED69AFBCA}"/>
              </a:ext>
            </a:extLst>
          </p:cNvPr>
          <p:cNvSpPr>
            <a:spLocks noGrp="1"/>
          </p:cNvSpPr>
          <p:nvPr>
            <p:ph idx="1"/>
          </p:nvPr>
        </p:nvSpPr>
        <p:spPr>
          <a:xfrm>
            <a:off x="1759033" y="1327484"/>
            <a:ext cx="9598778" cy="4965031"/>
          </a:xfrm>
        </p:spPr>
        <p:txBody>
          <a:bodyPr>
            <a:normAutofit/>
          </a:bodyPr>
          <a:lstStyle/>
          <a:p>
            <a:r>
              <a:rPr lang="en-US" sz="2000" b="1" dirty="0">
                <a:latin typeface="Calibri" panose="020F0502020204030204" pitchFamily="34" charset="0"/>
                <a:cs typeface="Calibri" panose="020F0502020204030204" pitchFamily="34" charset="0"/>
              </a:rPr>
              <a:t>What is Regression</a:t>
            </a:r>
            <a:r>
              <a:rPr lang="en-US" sz="2000" dirty="0">
                <a:latin typeface="Calibri" panose="020F0502020204030204" pitchFamily="34" charset="0"/>
                <a:cs typeface="Calibri" panose="020F0502020204030204" pitchFamily="34" charset="0"/>
              </a:rPr>
              <a:t>: Regression is drawing relationship between attributes. There are three types of regression techniques - linear, logistic and Polynomial Regression. From these types I have taken Logistic regression. </a:t>
            </a:r>
          </a:p>
          <a:p>
            <a:endParaRPr lang="en-US" sz="2000" dirty="0">
              <a:latin typeface="Calibri" panose="020F0502020204030204" pitchFamily="34" charset="0"/>
              <a:cs typeface="Calibri" panose="020F0502020204030204" pitchFamily="34" charset="0"/>
            </a:endParaRPr>
          </a:p>
        </p:txBody>
      </p:sp>
      <p:pic>
        <p:nvPicPr>
          <p:cNvPr id="4" name="Picture 3" descr="Graphical user interface, application&#10;&#10;Description automatically generated">
            <a:extLst>
              <a:ext uri="{FF2B5EF4-FFF2-40B4-BE49-F238E27FC236}">
                <a16:creationId xmlns:a16="http://schemas.microsoft.com/office/drawing/2014/main" id="{1DEDA031-56F6-9C42-A429-2B6B7AFBC784}"/>
              </a:ext>
            </a:extLst>
          </p:cNvPr>
          <p:cNvPicPr/>
          <p:nvPr/>
        </p:nvPicPr>
        <p:blipFill>
          <a:blip r:embed="rId2"/>
          <a:stretch>
            <a:fillRect/>
          </a:stretch>
        </p:blipFill>
        <p:spPr>
          <a:xfrm>
            <a:off x="1759033" y="2371725"/>
            <a:ext cx="9799555" cy="4300538"/>
          </a:xfrm>
          <a:prstGeom prst="rect">
            <a:avLst/>
          </a:prstGeom>
        </p:spPr>
      </p:pic>
    </p:spTree>
    <p:extLst>
      <p:ext uri="{BB962C8B-B14F-4D97-AF65-F5344CB8AC3E}">
        <p14:creationId xmlns:p14="http://schemas.microsoft.com/office/powerpoint/2010/main" val="29778674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27C36A-A912-8345-AE53-EEEA53E53203}"/>
              </a:ext>
            </a:extLst>
          </p:cNvPr>
          <p:cNvSpPr>
            <a:spLocks noGrp="1"/>
          </p:cNvSpPr>
          <p:nvPr>
            <p:ph type="title"/>
          </p:nvPr>
        </p:nvSpPr>
        <p:spPr>
          <a:xfrm>
            <a:off x="1640156" y="247414"/>
            <a:ext cx="8911687" cy="699364"/>
          </a:xfrm>
        </p:spPr>
        <p:txBody>
          <a:bodyPr/>
          <a:lstStyle/>
          <a:p>
            <a:r>
              <a:rPr lang="en-US" dirty="0">
                <a:latin typeface="Calibri" panose="020F0502020204030204" pitchFamily="34" charset="0"/>
                <a:cs typeface="Calibri" panose="020F0502020204030204" pitchFamily="34" charset="0"/>
              </a:rPr>
              <a:t>What is Logistic Regression</a:t>
            </a:r>
          </a:p>
        </p:txBody>
      </p:sp>
      <p:sp>
        <p:nvSpPr>
          <p:cNvPr id="3" name="Content Placeholder 2">
            <a:extLst>
              <a:ext uri="{FF2B5EF4-FFF2-40B4-BE49-F238E27FC236}">
                <a16:creationId xmlns:a16="http://schemas.microsoft.com/office/drawing/2014/main" id="{F9C194E8-CE6B-5D48-BF6E-95ECF1CD1ED9}"/>
              </a:ext>
            </a:extLst>
          </p:cNvPr>
          <p:cNvSpPr>
            <a:spLocks noGrp="1"/>
          </p:cNvSpPr>
          <p:nvPr>
            <p:ph idx="1"/>
          </p:nvPr>
        </p:nvSpPr>
        <p:spPr>
          <a:xfrm>
            <a:off x="1640155" y="946778"/>
            <a:ext cx="10163917" cy="5911222"/>
          </a:xfrm>
        </p:spPr>
        <p:txBody>
          <a:bodyPr>
            <a:noAutofit/>
          </a:bodyPr>
          <a:lstStyle/>
          <a:p>
            <a:r>
              <a:rPr lang="en-US" sz="2400" dirty="0">
                <a:latin typeface="Calibri" panose="020F0502020204030204" pitchFamily="34" charset="0"/>
                <a:cs typeface="Calibri" panose="020F0502020204030204" pitchFamily="34" charset="0"/>
              </a:rPr>
              <a:t>Logistic Regression measures the relationship between the dependent variable (our label, what we want to predict) and the one or more independent variables (our features), by estimating probabilities using its underlying logistic function.</a:t>
            </a:r>
          </a:p>
          <a:p>
            <a:r>
              <a:rPr lang="en-US" sz="2400" dirty="0">
                <a:latin typeface="Calibri" panose="020F0502020204030204" pitchFamily="34" charset="0"/>
                <a:cs typeface="Calibri" panose="020F0502020204030204" pitchFamily="34" charset="0"/>
              </a:rPr>
              <a:t>The logistic function is defined as:</a:t>
            </a:r>
          </a:p>
          <a:p>
            <a:pPr marL="0" indent="0">
              <a:buNone/>
            </a:pPr>
            <a:r>
              <a:rPr lang="en-US" sz="2400" dirty="0">
                <a:latin typeface="Calibri" panose="020F0502020204030204" pitchFamily="34" charset="0"/>
                <a:cs typeface="Calibri" panose="020F0502020204030204" pitchFamily="34" charset="0"/>
              </a:rPr>
              <a:t>			logistic(</a:t>
            </a:r>
            <a:r>
              <a:rPr lang="en-US" sz="2400" dirty="0" err="1">
                <a:latin typeface="Calibri" panose="020F0502020204030204" pitchFamily="34" charset="0"/>
                <a:cs typeface="Calibri" panose="020F0502020204030204" pitchFamily="34" charset="0"/>
              </a:rPr>
              <a:t>η</a:t>
            </a:r>
            <a:r>
              <a:rPr lang="en-US" sz="2400" dirty="0">
                <a:latin typeface="Calibri" panose="020F0502020204030204" pitchFamily="34" charset="0"/>
                <a:cs typeface="Calibri" panose="020F0502020204030204" pitchFamily="34" charset="0"/>
              </a:rPr>
              <a:t>)=1/1+exp(−</a:t>
            </a:r>
            <a:r>
              <a:rPr lang="en-US" sz="2400" dirty="0" err="1">
                <a:latin typeface="Calibri" panose="020F0502020204030204" pitchFamily="34" charset="0"/>
                <a:cs typeface="Calibri" panose="020F0502020204030204" pitchFamily="34" charset="0"/>
              </a:rPr>
              <a:t>η</a:t>
            </a:r>
            <a:r>
              <a:rPr lang="en-US" sz="2400" dirty="0">
                <a:latin typeface="Calibri" panose="020F0502020204030204" pitchFamily="34" charset="0"/>
                <a:cs typeface="Calibri" panose="020F0502020204030204" pitchFamily="34" charset="0"/>
              </a:rPr>
              <a:t>)</a:t>
            </a:r>
          </a:p>
          <a:p>
            <a:r>
              <a:rPr lang="en-US" sz="2400" dirty="0">
                <a:latin typeface="Calibri" panose="020F0502020204030204" pitchFamily="34" charset="0"/>
                <a:cs typeface="Calibri" panose="020F0502020204030204" pitchFamily="34" charset="0"/>
              </a:rPr>
              <a:t>Instead of fitting a straight line or hyperplane, the logistic regression model uses the logistic function to squeeze the output of a linear equation between 0 and 1. </a:t>
            </a:r>
          </a:p>
          <a:p>
            <a:r>
              <a:rPr lang="en-US" sz="2400" dirty="0">
                <a:latin typeface="Calibri" panose="020F0502020204030204" pitchFamily="34" charset="0"/>
                <a:cs typeface="Calibri" panose="020F0502020204030204" pitchFamily="34" charset="0"/>
              </a:rPr>
              <a:t>This is the task of the logistic function, also called the sigmoid function. The Sigmoid-Function is an S-shaped curve that can take any real-valued number and map it into a value between the range of 0 and 1, but never exactly at those limits. This values between 0 and 1 will then be transformed into either 0 or 1 using a threshold classifier.</a:t>
            </a:r>
          </a:p>
          <a:p>
            <a:endParaRPr lang="en-US" sz="24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510256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8A3F5A5-7AB3-E140-B5F5-43B65F2BFC84}"/>
              </a:ext>
            </a:extLst>
          </p:cNvPr>
          <p:cNvSpPr>
            <a:spLocks noGrp="1"/>
          </p:cNvSpPr>
          <p:nvPr>
            <p:ph idx="1"/>
          </p:nvPr>
        </p:nvSpPr>
        <p:spPr>
          <a:xfrm>
            <a:off x="1630400" y="497305"/>
            <a:ext cx="9956012" cy="6108032"/>
          </a:xfrm>
        </p:spPr>
        <p:txBody>
          <a:bodyPr>
            <a:noAutofit/>
          </a:bodyPr>
          <a:lstStyle/>
          <a:p>
            <a:r>
              <a:rPr lang="en-US" sz="2000" dirty="0">
                <a:latin typeface="Calibri" panose="020F0502020204030204" pitchFamily="34" charset="0"/>
                <a:cs typeface="Calibri" panose="020F0502020204030204" pitchFamily="34" charset="0"/>
              </a:rPr>
              <a:t>Below you can see how the logistic function (sigmoid function) looks like:</a:t>
            </a: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pPr marL="0" indent="0">
              <a:buNone/>
            </a:pPr>
            <a:endParaRPr lang="en-US" sz="2000"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Most far from 0 values of </a:t>
            </a:r>
            <a:r>
              <a:rPr lang="en-US" sz="2000" i="1" dirty="0">
                <a:latin typeface="Calibri" panose="020F0502020204030204" pitchFamily="34" charset="0"/>
                <a:cs typeface="Calibri" panose="020F0502020204030204" pitchFamily="34" charset="0"/>
              </a:rPr>
              <a:t>x</a:t>
            </a:r>
            <a:r>
              <a:rPr lang="en-US" sz="2000" dirty="0">
                <a:latin typeface="Calibri" panose="020F0502020204030204" pitchFamily="34" charset="0"/>
                <a:cs typeface="Calibri" panose="020F0502020204030204" pitchFamily="34" charset="0"/>
              </a:rPr>
              <a:t> are mapped close to 0 or close to 1 values of </a:t>
            </a:r>
            <a:r>
              <a:rPr lang="en-US" sz="2000" i="1" dirty="0">
                <a:latin typeface="Calibri" panose="020F0502020204030204" pitchFamily="34" charset="0"/>
                <a:cs typeface="Calibri" panose="020F0502020204030204" pitchFamily="34" charset="0"/>
              </a:rPr>
              <a:t>y</a:t>
            </a:r>
            <a:r>
              <a:rPr lang="en-US" sz="2000" dirty="0">
                <a:latin typeface="Calibri" panose="020F0502020204030204" pitchFamily="34" charset="0"/>
                <a:cs typeface="Calibri" panose="020F0502020204030204" pitchFamily="34" charset="0"/>
              </a:rPr>
              <a:t>. Values close to 0 of </a:t>
            </a:r>
            <a:r>
              <a:rPr lang="en-US" sz="2000" i="1" dirty="0">
                <a:latin typeface="Calibri" panose="020F0502020204030204" pitchFamily="34" charset="0"/>
                <a:cs typeface="Calibri" panose="020F0502020204030204" pitchFamily="34" charset="0"/>
              </a:rPr>
              <a:t>x</a:t>
            </a:r>
            <a:r>
              <a:rPr lang="en-US" sz="2000" dirty="0">
                <a:latin typeface="Calibri" panose="020F0502020204030204" pitchFamily="34" charset="0"/>
                <a:cs typeface="Calibri" panose="020F0502020204030204" pitchFamily="34" charset="0"/>
              </a:rPr>
              <a:t> will be a good approximation of probability in our algorithm. Then we can choose a threshold value and transform probability to 0 or 1 prediction.</a:t>
            </a:r>
          </a:p>
          <a:p>
            <a:endParaRPr lang="en-US" sz="20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1A0A455F-3896-7C4A-A938-900F11FCEBB7}"/>
              </a:ext>
            </a:extLst>
          </p:cNvPr>
          <p:cNvPicPr>
            <a:picLocks noChangeAspect="1"/>
          </p:cNvPicPr>
          <p:nvPr/>
        </p:nvPicPr>
        <p:blipFill>
          <a:blip r:embed="rId2"/>
          <a:stretch>
            <a:fillRect/>
          </a:stretch>
        </p:blipFill>
        <p:spPr>
          <a:xfrm>
            <a:off x="2928938" y="1204742"/>
            <a:ext cx="5802312" cy="3780008"/>
          </a:xfrm>
          <a:prstGeom prst="rect">
            <a:avLst/>
          </a:prstGeom>
        </p:spPr>
      </p:pic>
      <p:sp>
        <p:nvSpPr>
          <p:cNvPr id="8" name="TextBox 7">
            <a:extLst>
              <a:ext uri="{FF2B5EF4-FFF2-40B4-BE49-F238E27FC236}">
                <a16:creationId xmlns:a16="http://schemas.microsoft.com/office/drawing/2014/main" id="{07A1EEFD-DFFD-0D4D-AFFE-1AB968D8B0FE}"/>
              </a:ext>
            </a:extLst>
          </p:cNvPr>
          <p:cNvSpPr txBox="1"/>
          <p:nvPr/>
        </p:nvSpPr>
        <p:spPr>
          <a:xfrm>
            <a:off x="2322095" y="5474368"/>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1472630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494BBB-418E-8845-9E32-6B7281D217F9}"/>
              </a:ext>
            </a:extLst>
          </p:cNvPr>
          <p:cNvSpPr>
            <a:spLocks noGrp="1"/>
          </p:cNvSpPr>
          <p:nvPr>
            <p:ph idx="1"/>
          </p:nvPr>
        </p:nvSpPr>
        <p:spPr>
          <a:xfrm>
            <a:off x="1943100" y="457200"/>
            <a:ext cx="9561512" cy="3651813"/>
          </a:xfrm>
        </p:spPr>
        <p:txBody>
          <a:bodyPr>
            <a:normAutofit/>
          </a:bodyPr>
          <a:lstStyle/>
          <a:p>
            <a:r>
              <a:rPr lang="en-US" sz="2000" b="1" dirty="0">
                <a:latin typeface="Calibri" panose="020F0502020204030204" pitchFamily="34" charset="0"/>
                <a:cs typeface="Calibri" panose="020F0502020204030204" pitchFamily="34" charset="0"/>
              </a:rPr>
              <a:t>Logistic regression model</a:t>
            </a:r>
            <a:r>
              <a:rPr lang="en-US" sz="2000" dirty="0">
                <a:latin typeface="Calibri" panose="020F0502020204030204" pitchFamily="34" charset="0"/>
                <a:cs typeface="Calibri" panose="020F0502020204030204" pitchFamily="34" charset="0"/>
              </a:rPr>
              <a:t> predicts whether something is true or false. This curve goes from 0 to 1, this curve also means the probability of occurrence in future. This curve is drawn based on maximum likelihood of occurrence or non-occurrence of prediction based on data. </a:t>
            </a:r>
          </a:p>
          <a:p>
            <a:r>
              <a:rPr lang="en-US" sz="2000" dirty="0">
                <a:latin typeface="Calibri" panose="020F0502020204030204" pitchFamily="34" charset="0"/>
                <a:cs typeface="Calibri" panose="020F0502020204030204" pitchFamily="34" charset="0"/>
              </a:rPr>
              <a:t>The coefficients of the logistic regression algorithm must be estimated from the training data. The best coefficients would increase the prediction probability.</a:t>
            </a: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713E9B8A-3258-6344-AD27-F41DCB825A27}"/>
              </a:ext>
            </a:extLst>
          </p:cNvPr>
          <p:cNvSpPr>
            <a:spLocks noChangeArrowheads="1"/>
          </p:cNvSpPr>
          <p:nvPr/>
        </p:nvSpPr>
        <p:spPr bwMode="auto">
          <a:xfrm>
            <a:off x="0" y="-1"/>
            <a:ext cx="12405816"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4" name="Picture 3">
            <a:extLst>
              <a:ext uri="{FF2B5EF4-FFF2-40B4-BE49-F238E27FC236}">
                <a16:creationId xmlns:a16="http://schemas.microsoft.com/office/drawing/2014/main" id="{CFE536C9-7316-AC42-A2ED-A41104F2F6CA}"/>
              </a:ext>
            </a:extLst>
          </p:cNvPr>
          <p:cNvPicPr>
            <a:picLocks noChangeAspect="1"/>
          </p:cNvPicPr>
          <p:nvPr/>
        </p:nvPicPr>
        <p:blipFill>
          <a:blip r:embed="rId2"/>
          <a:stretch>
            <a:fillRect/>
          </a:stretch>
        </p:blipFill>
        <p:spPr>
          <a:xfrm>
            <a:off x="2652952" y="2726969"/>
            <a:ext cx="8643619" cy="3365073"/>
          </a:xfrm>
          <a:prstGeom prst="rect">
            <a:avLst/>
          </a:prstGeom>
        </p:spPr>
      </p:pic>
    </p:spTree>
    <p:extLst>
      <p:ext uri="{BB962C8B-B14F-4D97-AF65-F5344CB8AC3E}">
        <p14:creationId xmlns:p14="http://schemas.microsoft.com/office/powerpoint/2010/main" val="28310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48DDE-1D22-584B-9ABA-E44EED585225}"/>
              </a:ext>
            </a:extLst>
          </p:cNvPr>
          <p:cNvSpPr>
            <a:spLocks noGrp="1"/>
          </p:cNvSpPr>
          <p:nvPr>
            <p:ph type="title"/>
          </p:nvPr>
        </p:nvSpPr>
        <p:spPr>
          <a:xfrm>
            <a:off x="1540042" y="505328"/>
            <a:ext cx="9964570" cy="640445"/>
          </a:xfrm>
        </p:spPr>
        <p:txBody>
          <a:bodyPr>
            <a:normAutofit/>
          </a:bodyPr>
          <a:lstStyle/>
          <a:p>
            <a:r>
              <a:rPr lang="en-US" sz="3200" dirty="0">
                <a:latin typeface="Calibri" panose="020F0502020204030204" pitchFamily="34" charset="0"/>
                <a:cs typeface="Calibri" panose="020F0502020204030204" pitchFamily="34" charset="0"/>
              </a:rPr>
              <a:t>How a machine learning algorithm gets implemented</a:t>
            </a:r>
          </a:p>
        </p:txBody>
      </p:sp>
      <p:sp>
        <p:nvSpPr>
          <p:cNvPr id="3" name="Content Placeholder 2">
            <a:extLst>
              <a:ext uri="{FF2B5EF4-FFF2-40B4-BE49-F238E27FC236}">
                <a16:creationId xmlns:a16="http://schemas.microsoft.com/office/drawing/2014/main" id="{F34B835F-F8EE-9842-8EF8-A2BF2F6DE8B0}"/>
              </a:ext>
            </a:extLst>
          </p:cNvPr>
          <p:cNvSpPr>
            <a:spLocks noGrp="1"/>
          </p:cNvSpPr>
          <p:nvPr>
            <p:ph idx="1"/>
          </p:nvPr>
        </p:nvSpPr>
        <p:spPr>
          <a:xfrm>
            <a:off x="1638300" y="1423735"/>
            <a:ext cx="10080458" cy="4928937"/>
          </a:xfrm>
        </p:spPr>
        <p:txBody>
          <a:bodyPr>
            <a:normAutofit fontScale="92500"/>
          </a:bodyPr>
          <a:lstStyle/>
          <a:p>
            <a:r>
              <a:rPr lang="en-US" sz="2400" dirty="0">
                <a:latin typeface="Calibri" panose="020F0502020204030204" pitchFamily="34" charset="0"/>
                <a:cs typeface="Calibri" panose="020F0502020204030204" pitchFamily="34" charset="0"/>
              </a:rPr>
              <a:t>For every machine learning task there are many steps involved to get the desired outcome.</a:t>
            </a:r>
          </a:p>
          <a:p>
            <a:pPr lvl="1">
              <a:buFont typeface="+mj-lt"/>
              <a:buAutoNum type="arabicPeriod"/>
            </a:pPr>
            <a:r>
              <a:rPr lang="en-US" sz="2400" dirty="0">
                <a:latin typeface="Calibri" panose="020F0502020204030204" pitchFamily="34" charset="0"/>
                <a:cs typeface="Calibri" panose="020F0502020204030204" pitchFamily="34" charset="0"/>
              </a:rPr>
              <a:t>We need to Import the data set</a:t>
            </a:r>
          </a:p>
          <a:p>
            <a:pPr lvl="1">
              <a:buFont typeface="+mj-lt"/>
              <a:buAutoNum type="arabicPeriod"/>
            </a:pPr>
            <a:r>
              <a:rPr lang="en-US" sz="2400" dirty="0">
                <a:latin typeface="Calibri" panose="020F0502020204030204" pitchFamily="34" charset="0"/>
                <a:cs typeface="Calibri" panose="020F0502020204030204" pitchFamily="34" charset="0"/>
              </a:rPr>
              <a:t>Explore the data set and understand what the data contains and understand what needs to be predicted.</a:t>
            </a:r>
          </a:p>
          <a:p>
            <a:pPr lvl="1">
              <a:buFont typeface="+mj-lt"/>
              <a:buAutoNum type="arabicPeriod"/>
            </a:pPr>
            <a:r>
              <a:rPr lang="en-US" sz="2400" dirty="0">
                <a:latin typeface="Calibri" panose="020F0502020204030204" pitchFamily="34" charset="0"/>
                <a:cs typeface="Calibri" panose="020F0502020204030204" pitchFamily="34" charset="0"/>
              </a:rPr>
              <a:t>Normalize or Manipulate the data that fits to the machine learning technique.</a:t>
            </a:r>
          </a:p>
          <a:p>
            <a:pPr lvl="1">
              <a:buFont typeface="+mj-lt"/>
              <a:buAutoNum type="arabicPeriod"/>
            </a:pPr>
            <a:r>
              <a:rPr lang="en-US" sz="2400" dirty="0">
                <a:latin typeface="Calibri" panose="020F0502020204030204" pitchFamily="34" charset="0"/>
                <a:cs typeface="Calibri" panose="020F0502020204030204" pitchFamily="34" charset="0"/>
              </a:rPr>
              <a:t>Apply the data modelling technique </a:t>
            </a:r>
          </a:p>
          <a:p>
            <a:pPr lvl="1">
              <a:buFont typeface="+mj-lt"/>
              <a:buAutoNum type="arabicPeriod"/>
            </a:pPr>
            <a:r>
              <a:rPr lang="en-US" sz="2400" dirty="0">
                <a:latin typeface="Calibri" panose="020F0502020204030204" pitchFamily="34" charset="0"/>
                <a:cs typeface="Calibri" panose="020F0502020204030204" pitchFamily="34" charset="0"/>
              </a:rPr>
              <a:t>Predict the necessary values</a:t>
            </a:r>
          </a:p>
          <a:p>
            <a:pPr lvl="1">
              <a:buFont typeface="+mj-lt"/>
              <a:buAutoNum type="arabicPeriod"/>
            </a:pPr>
            <a:endParaRPr lang="en-US" sz="2400" dirty="0">
              <a:latin typeface="Calibri" panose="020F0502020204030204" pitchFamily="34" charset="0"/>
              <a:cs typeface="Calibri" panose="020F0502020204030204" pitchFamily="34" charset="0"/>
            </a:endParaRPr>
          </a:p>
          <a:p>
            <a:r>
              <a:rPr lang="en-US" sz="2400" dirty="0">
                <a:latin typeface="Calibri" panose="020F0502020204030204" pitchFamily="34" charset="0"/>
                <a:cs typeface="Calibri" panose="020F0502020204030204" pitchFamily="34" charset="0"/>
              </a:rPr>
              <a:t>For the data set we considered, we need to predict whether the transaction is 0 or 1. Such type of predictions works with logistic regression. </a:t>
            </a:r>
          </a:p>
        </p:txBody>
      </p:sp>
    </p:spTree>
    <p:extLst>
      <p:ext uri="{BB962C8B-B14F-4D97-AF65-F5344CB8AC3E}">
        <p14:creationId xmlns:p14="http://schemas.microsoft.com/office/powerpoint/2010/main" val="29778457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2E431-5FD7-A84B-93FF-EC89F47A1090}"/>
              </a:ext>
            </a:extLst>
          </p:cNvPr>
          <p:cNvSpPr>
            <a:spLocks noGrp="1"/>
          </p:cNvSpPr>
          <p:nvPr>
            <p:ph type="title"/>
          </p:nvPr>
        </p:nvSpPr>
        <p:spPr>
          <a:xfrm>
            <a:off x="1640156" y="163370"/>
            <a:ext cx="8911687" cy="651237"/>
          </a:xfrm>
        </p:spPr>
        <p:txBody>
          <a:bodyPr>
            <a:normAutofit/>
          </a:bodyPr>
          <a:lstStyle/>
          <a:p>
            <a:r>
              <a:rPr lang="en-US" dirty="0">
                <a:latin typeface="Calibri" panose="020F0502020204030204" pitchFamily="34" charset="0"/>
                <a:cs typeface="Calibri" panose="020F0502020204030204" pitchFamily="34" charset="0"/>
              </a:rPr>
              <a:t>Data Set</a:t>
            </a:r>
          </a:p>
        </p:txBody>
      </p:sp>
      <p:sp>
        <p:nvSpPr>
          <p:cNvPr id="3" name="Content Placeholder 2">
            <a:extLst>
              <a:ext uri="{FF2B5EF4-FFF2-40B4-BE49-F238E27FC236}">
                <a16:creationId xmlns:a16="http://schemas.microsoft.com/office/drawing/2014/main" id="{1839289E-1D79-3B43-B7B6-D1FCE5E8BB4F}"/>
              </a:ext>
            </a:extLst>
          </p:cNvPr>
          <p:cNvSpPr>
            <a:spLocks noGrp="1"/>
          </p:cNvSpPr>
          <p:nvPr>
            <p:ph idx="1"/>
          </p:nvPr>
        </p:nvSpPr>
        <p:spPr>
          <a:xfrm>
            <a:off x="1640156" y="814607"/>
            <a:ext cx="9889810" cy="5422233"/>
          </a:xfrm>
        </p:spPr>
        <p:txBody>
          <a:bodyPr>
            <a:noAutofit/>
          </a:bodyPr>
          <a:lstStyle/>
          <a:p>
            <a:r>
              <a:rPr lang="en-US" sz="2000" dirty="0">
                <a:latin typeface="Calibri" panose="020F0502020204030204" pitchFamily="34" charset="0"/>
                <a:cs typeface="Calibri" panose="020F0502020204030204" pitchFamily="34" charset="0"/>
              </a:rPr>
              <a:t>The data set is from a credit card company which has 31 features, 28 of which have been anonymized and are labeled V1 through V28. </a:t>
            </a:r>
          </a:p>
          <a:p>
            <a:r>
              <a:rPr lang="en-US" sz="2000" dirty="0">
                <a:latin typeface="Calibri" panose="020F0502020204030204" pitchFamily="34" charset="0"/>
                <a:cs typeface="Calibri" panose="020F0502020204030204" pitchFamily="34" charset="0"/>
              </a:rPr>
              <a:t>The remaining three features are the time and the amount of the transaction as well as whether that transaction was fraudulent or not.</a:t>
            </a:r>
          </a:p>
          <a:p>
            <a:r>
              <a:rPr lang="en-US" sz="2000" dirty="0">
                <a:latin typeface="Calibri" panose="020F0502020204030204" pitchFamily="34" charset="0"/>
                <a:cs typeface="Calibri" panose="020F0502020204030204" pitchFamily="34" charset="0"/>
              </a:rPr>
              <a:t>As discussed in previous slide we need to import the data first and then we need to understand the data.</a:t>
            </a:r>
          </a:p>
          <a:p>
            <a:r>
              <a:rPr lang="en-US" sz="2000" dirty="0">
                <a:latin typeface="Calibri" panose="020F0502020204030204" pitchFamily="34" charset="0"/>
                <a:cs typeface="Calibri" panose="020F0502020204030204" pitchFamily="34" charset="0"/>
              </a:rPr>
              <a:t>Let’s see how to implement this in R</a:t>
            </a:r>
          </a:p>
          <a:p>
            <a:pPr marL="0" indent="0">
              <a:buNone/>
            </a:pPr>
            <a:r>
              <a:rPr lang="en-US" sz="2000" dirty="0">
                <a:latin typeface="Calibri" panose="020F0502020204030204" pitchFamily="34" charset="0"/>
                <a:cs typeface="Calibri" panose="020F0502020204030204" pitchFamily="34" charset="0"/>
              </a:rPr>
              <a:t>	Import the data set</a:t>
            </a:r>
          </a:p>
          <a:p>
            <a:pPr marL="0" indent="0">
              <a:buNone/>
            </a:pPr>
            <a:r>
              <a:rPr lang="en-US" sz="2000" dirty="0">
                <a:latin typeface="Calibri" panose="020F0502020204030204" pitchFamily="34" charset="0"/>
                <a:cs typeface="Calibri" panose="020F0502020204030204" pitchFamily="34" charset="0"/>
              </a:rPr>
              <a:t>	See the structure of the data</a:t>
            </a:r>
          </a:p>
          <a:p>
            <a:pPr marL="0" indent="0">
              <a:buNone/>
            </a:pPr>
            <a:r>
              <a:rPr lang="en-US" sz="2000" dirty="0">
                <a:latin typeface="Calibri" panose="020F0502020204030204" pitchFamily="34" charset="0"/>
                <a:cs typeface="Calibri" panose="020F0502020204030204" pitchFamily="34" charset="0"/>
              </a:rPr>
              <a:t>	Divide the data into training and testing</a:t>
            </a:r>
          </a:p>
          <a:p>
            <a:pPr marL="457200" lvl="1" indent="0">
              <a:buNone/>
            </a:pPr>
            <a:r>
              <a:rPr lang="en-US" sz="2000" dirty="0">
                <a:latin typeface="Calibri" panose="020F0502020204030204" pitchFamily="34" charset="0"/>
                <a:cs typeface="Calibri" panose="020F0502020204030204" pitchFamily="34" charset="0"/>
              </a:rPr>
              <a:t>Create a logistic model on training data set</a:t>
            </a:r>
          </a:p>
          <a:p>
            <a:pPr marL="457200" lvl="1" indent="0">
              <a:buNone/>
            </a:pPr>
            <a:r>
              <a:rPr lang="en-US" sz="2000" dirty="0">
                <a:latin typeface="Calibri" panose="020F0502020204030204" pitchFamily="34" charset="0"/>
                <a:cs typeface="Calibri" panose="020F0502020204030204" pitchFamily="34" charset="0"/>
              </a:rPr>
              <a:t>Predict the class for the data on test data set using the logistic model we created</a:t>
            </a:r>
          </a:p>
          <a:p>
            <a:pPr marL="457200" lvl="1" indent="0">
              <a:buNone/>
            </a:pPr>
            <a:r>
              <a:rPr lang="en-US" sz="2000" dirty="0">
                <a:latin typeface="Calibri" panose="020F0502020204030204" pitchFamily="34" charset="0"/>
                <a:cs typeface="Calibri" panose="020F0502020204030204" pitchFamily="34" charset="0"/>
              </a:rPr>
              <a:t>Create a table which gives the actual class value for test data and the predicted values for test data</a:t>
            </a:r>
          </a:p>
          <a:p>
            <a:pPr marL="457200" lvl="1" indent="0">
              <a:buNone/>
            </a:pPr>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816699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59402A-93D8-2A4B-89A4-237C6985794C}"/>
              </a:ext>
            </a:extLst>
          </p:cNvPr>
          <p:cNvSpPr>
            <a:spLocks noGrp="1"/>
          </p:cNvSpPr>
          <p:nvPr>
            <p:ph idx="1"/>
          </p:nvPr>
        </p:nvSpPr>
        <p:spPr>
          <a:xfrm>
            <a:off x="1434179" y="208546"/>
            <a:ext cx="10585368" cy="6180222"/>
          </a:xfrm>
        </p:spPr>
        <p:txBody>
          <a:bodyPr>
            <a:noAutofit/>
          </a:bodyPr>
          <a:lstStyle/>
          <a:p>
            <a:pPr marL="0" indent="0">
              <a:buNone/>
            </a:pPr>
            <a:r>
              <a:rPr lang="en-US" sz="2000" dirty="0">
                <a:latin typeface="Calibri" panose="020F0502020204030204" pitchFamily="34" charset="0"/>
                <a:cs typeface="Calibri" panose="020F0502020204030204" pitchFamily="34" charset="0"/>
              </a:rPr>
              <a:t>Calculate the accuracy of the predicted values and plot them in a graph .</a:t>
            </a:r>
          </a:p>
          <a:p>
            <a:pPr marL="0" indent="0">
              <a:buNone/>
            </a:pPr>
            <a:r>
              <a:rPr lang="en-US" sz="2000" dirty="0">
                <a:latin typeface="Calibri" panose="020F0502020204030204" pitchFamily="34" charset="0"/>
                <a:cs typeface="Calibri" panose="020F0502020204030204" pitchFamily="34" charset="0"/>
              </a:rPr>
              <a:t>We can see how the predicted class values are distributed between 0 and 1 </a:t>
            </a:r>
          </a:p>
          <a:p>
            <a:endParaRPr lang="en-US" sz="2000"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7D61E0C8-27F4-7546-81CD-6F99325FE33F}"/>
              </a:ext>
            </a:extLst>
          </p:cNvPr>
          <p:cNvPicPr>
            <a:picLocks noChangeAspect="1"/>
          </p:cNvPicPr>
          <p:nvPr/>
        </p:nvPicPr>
        <p:blipFill>
          <a:blip r:embed="rId2"/>
          <a:stretch>
            <a:fillRect/>
          </a:stretch>
        </p:blipFill>
        <p:spPr>
          <a:xfrm>
            <a:off x="3262646" y="1755648"/>
            <a:ext cx="4585587" cy="3346704"/>
          </a:xfrm>
          <a:prstGeom prst="rect">
            <a:avLst/>
          </a:prstGeom>
        </p:spPr>
      </p:pic>
      <p:sp>
        <p:nvSpPr>
          <p:cNvPr id="5" name="Rectangle 4">
            <a:extLst>
              <a:ext uri="{FF2B5EF4-FFF2-40B4-BE49-F238E27FC236}">
                <a16:creationId xmlns:a16="http://schemas.microsoft.com/office/drawing/2014/main" id="{E35F7D56-D740-9449-B5A2-2B5268048D6F}"/>
              </a:ext>
            </a:extLst>
          </p:cNvPr>
          <p:cNvSpPr/>
          <p:nvPr/>
        </p:nvSpPr>
        <p:spPr>
          <a:xfrm>
            <a:off x="1252538" y="5403975"/>
            <a:ext cx="10018295" cy="967957"/>
          </a:xfrm>
          <a:prstGeom prst="rect">
            <a:avLst/>
          </a:prstGeom>
        </p:spPr>
        <p:txBody>
          <a:bodyPr wrap="square">
            <a:spAutoFit/>
          </a:bodyPr>
          <a:lstStyle/>
          <a:p>
            <a:pPr algn="just">
              <a:lnSpc>
                <a:spcPct val="150000"/>
              </a:lnSpc>
              <a:spcBef>
                <a:spcPts val="900"/>
              </a:spcBef>
              <a:spcAft>
                <a:spcPts val="900"/>
              </a:spcAft>
            </a:pPr>
            <a:r>
              <a:rPr lang="en-US" sz="2000" dirty="0">
                <a:latin typeface="Calibri" panose="020F0502020204030204" pitchFamily="34" charset="0"/>
                <a:ea typeface="Calibri" panose="020F0502020204030204" pitchFamily="34" charset="0"/>
                <a:cs typeface="Calibri" panose="020F0502020204030204" pitchFamily="34" charset="0"/>
              </a:rPr>
              <a:t>This accuracy graph shows most of the values have less False Positive rate and high true positive rate. This explains the accuracy of the predictions.</a:t>
            </a:r>
          </a:p>
        </p:txBody>
      </p:sp>
    </p:spTree>
    <p:extLst>
      <p:ext uri="{BB962C8B-B14F-4D97-AF65-F5344CB8AC3E}">
        <p14:creationId xmlns:p14="http://schemas.microsoft.com/office/powerpoint/2010/main" val="4325379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FF29B-B268-A841-A652-1637E651F89E}"/>
              </a:ext>
            </a:extLst>
          </p:cNvPr>
          <p:cNvSpPr>
            <a:spLocks noGrp="1"/>
          </p:cNvSpPr>
          <p:nvPr>
            <p:ph type="title"/>
          </p:nvPr>
        </p:nvSpPr>
        <p:spPr>
          <a:xfrm>
            <a:off x="1423587" y="360947"/>
            <a:ext cx="8911687" cy="651237"/>
          </a:xfrm>
        </p:spPr>
        <p:txBody>
          <a:bodyPr>
            <a:normAutofit/>
          </a:bodyPr>
          <a:lstStyle/>
          <a:p>
            <a:r>
              <a:rPr lang="en-US" sz="3200" dirty="0">
                <a:latin typeface="Calibri" panose="020F0502020204030204" pitchFamily="34" charset="0"/>
                <a:cs typeface="Calibri" panose="020F0502020204030204" pitchFamily="34" charset="0"/>
              </a:rPr>
              <a:t>Real-world use cases of Logistic Regression</a:t>
            </a:r>
          </a:p>
        </p:txBody>
      </p:sp>
      <p:sp>
        <p:nvSpPr>
          <p:cNvPr id="3" name="Content Placeholder 2">
            <a:extLst>
              <a:ext uri="{FF2B5EF4-FFF2-40B4-BE49-F238E27FC236}">
                <a16:creationId xmlns:a16="http://schemas.microsoft.com/office/drawing/2014/main" id="{02DF1AFB-7658-0240-A10F-1987B1B6F396}"/>
              </a:ext>
            </a:extLst>
          </p:cNvPr>
          <p:cNvSpPr>
            <a:spLocks noGrp="1"/>
          </p:cNvSpPr>
          <p:nvPr>
            <p:ph idx="1"/>
          </p:nvPr>
        </p:nvSpPr>
        <p:spPr>
          <a:xfrm>
            <a:off x="1423587" y="1179095"/>
            <a:ext cx="10247045" cy="6232358"/>
          </a:xfrm>
        </p:spPr>
        <p:txBody>
          <a:bodyPr>
            <a:noAutofit/>
          </a:bodyPr>
          <a:lstStyle/>
          <a:p>
            <a:r>
              <a:rPr lang="en-US" sz="2000" b="1" dirty="0">
                <a:latin typeface="Calibri" panose="020F0502020204030204" pitchFamily="34" charset="0"/>
                <a:cs typeface="Calibri" panose="020F0502020204030204" pitchFamily="34" charset="0"/>
              </a:rPr>
              <a:t>Credit scoring</a:t>
            </a:r>
          </a:p>
          <a:p>
            <a:pPr marL="0" indent="0">
              <a:buNone/>
            </a:pPr>
            <a:r>
              <a:rPr lang="en-US" sz="2000" dirty="0">
                <a:latin typeface="Calibri" panose="020F0502020204030204" pitchFamily="34" charset="0"/>
                <a:cs typeface="Calibri" panose="020F0502020204030204" pitchFamily="34" charset="0"/>
              </a:rPr>
              <a:t>	ID Finance is a financial company that makes predictive models for credit scoring. They need their models to be easily interpretable. They can be asked by a regulator about a certain decision at any moment.</a:t>
            </a:r>
          </a:p>
          <a:p>
            <a:r>
              <a:rPr lang="en-US" sz="2000" b="1" dirty="0">
                <a:latin typeface="Calibri" panose="020F0502020204030204" pitchFamily="34" charset="0"/>
                <a:cs typeface="Calibri" panose="020F0502020204030204" pitchFamily="34" charset="0"/>
              </a:rPr>
              <a:t>Medicine</a:t>
            </a:r>
          </a:p>
          <a:p>
            <a:pPr marL="0" indent="0">
              <a:buNone/>
            </a:pPr>
            <a:r>
              <a:rPr lang="en-US" sz="2000" dirty="0">
                <a:latin typeface="Calibri" panose="020F0502020204030204" pitchFamily="34" charset="0"/>
                <a:cs typeface="Calibri" panose="020F0502020204030204" pitchFamily="34" charset="0"/>
              </a:rPr>
              <a:t>	There is a huge amount of medical data about various compounds, but they are not combined into a single database. The developers use database of scientific articles and applied text analysis methods to obtain feature vectors. The text was split into the sentences, the entities were extracted and then labeled data generated from known relations .</a:t>
            </a:r>
          </a:p>
          <a:p>
            <a:pPr marL="0" indent="0">
              <a:buNone/>
            </a:pPr>
            <a:r>
              <a:rPr lang="en-US" sz="2000" dirty="0">
                <a:latin typeface="Calibri" panose="020F0502020204030204" pitchFamily="34" charset="0"/>
                <a:cs typeface="Calibri" panose="020F0502020204030204" pitchFamily="34" charset="0"/>
              </a:rPr>
              <a:t>	Logistic regression is well suited for this data type when we need to predict a binary answer. Is there a connection between the elements or not? With this algorithm, the accuracy of a quick blood test have been increased.</a:t>
            </a:r>
          </a:p>
          <a:p>
            <a:pPr marL="0" indent="0">
              <a:buNone/>
            </a:pPr>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936229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86A48BA-C4AE-2346-BEC6-F9FF2C4EC2BC}"/>
              </a:ext>
            </a:extLst>
          </p:cNvPr>
          <p:cNvSpPr>
            <a:spLocks noGrp="1"/>
          </p:cNvSpPr>
          <p:nvPr>
            <p:ph idx="1"/>
          </p:nvPr>
        </p:nvSpPr>
        <p:spPr>
          <a:xfrm>
            <a:off x="1542465" y="364957"/>
            <a:ext cx="10537240" cy="6685547"/>
          </a:xfrm>
        </p:spPr>
        <p:txBody>
          <a:bodyPr>
            <a:normAutofit/>
          </a:bodyPr>
          <a:lstStyle/>
          <a:p>
            <a:r>
              <a:rPr lang="en-US" sz="2000" b="1" dirty="0">
                <a:latin typeface="Calibri" panose="020F0502020204030204" pitchFamily="34" charset="0"/>
                <a:cs typeface="Calibri" panose="020F0502020204030204" pitchFamily="34" charset="0"/>
              </a:rPr>
              <a:t>Hotel Booking</a:t>
            </a:r>
          </a:p>
          <a:p>
            <a:pPr marL="0" indent="0">
              <a:buNone/>
            </a:pPr>
            <a:r>
              <a:rPr lang="en-US" sz="2000" dirty="0">
                <a:latin typeface="Calibri" panose="020F0502020204030204" pitchFamily="34" charset="0"/>
                <a:cs typeface="Calibri" panose="020F0502020204030204" pitchFamily="34" charset="0"/>
              </a:rPr>
              <a:t>	</a:t>
            </a:r>
            <a:r>
              <a:rPr lang="en-US" sz="2000" dirty="0" err="1">
                <a:latin typeface="Calibri" panose="020F0502020204030204" pitchFamily="34" charset="0"/>
                <a:cs typeface="Calibri" panose="020F0502020204030204" pitchFamily="34" charset="0"/>
              </a:rPr>
              <a:t>Booking.com</a:t>
            </a:r>
            <a:r>
              <a:rPr lang="en-US" sz="2000" dirty="0">
                <a:latin typeface="Calibri" panose="020F0502020204030204" pitchFamily="34" charset="0"/>
                <a:cs typeface="Calibri" panose="020F0502020204030204" pitchFamily="34" charset="0"/>
              </a:rPr>
              <a:t> has a lot of machine learning methods literally everywhere on the site. They try to predict users' intentions and recognize entities.</a:t>
            </a:r>
          </a:p>
          <a:p>
            <a:pPr marL="0" indent="0">
              <a:buNone/>
            </a:pPr>
            <a:r>
              <a:rPr lang="en-US" sz="2000" dirty="0">
                <a:latin typeface="Calibri" panose="020F0502020204030204" pitchFamily="34" charset="0"/>
                <a:cs typeface="Calibri" panose="020F0502020204030204" pitchFamily="34" charset="0"/>
              </a:rPr>
              <a:t>	Where will you go, where do you prefer to stop, what are you planning to do? Some predictions are made even if the user didn't type anything in the search line yet. </a:t>
            </a:r>
          </a:p>
          <a:p>
            <a:r>
              <a:rPr lang="en-US" sz="2000" b="1" dirty="0">
                <a:latin typeface="Calibri" panose="020F0502020204030204" pitchFamily="34" charset="0"/>
                <a:cs typeface="Calibri" panose="020F0502020204030204" pitchFamily="34" charset="0"/>
              </a:rPr>
              <a:t>Gaming</a:t>
            </a:r>
          </a:p>
          <a:p>
            <a:pPr marL="0" indent="0">
              <a:buNone/>
            </a:pPr>
            <a:r>
              <a:rPr lang="en-US" sz="2000" dirty="0">
                <a:latin typeface="Calibri" panose="020F0502020204030204" pitchFamily="34" charset="0"/>
                <a:cs typeface="Calibri" panose="020F0502020204030204" pitchFamily="34" charset="0"/>
              </a:rPr>
              <a:t>	Tencent is the world's largest gaming company. It uses such systems to suggest gamers' equipment which they would like to buy. Their algorithm analyzes a very large amount of data about user behavior and gives suggestions about equipment a particular user may want to acquire on the run. This algorithm is logistic regression.</a:t>
            </a:r>
          </a:p>
          <a:p>
            <a:r>
              <a:rPr lang="en-US" sz="2000" b="1" dirty="0">
                <a:latin typeface="Calibri" panose="020F0502020204030204" pitchFamily="34" charset="0"/>
                <a:cs typeface="Calibri" panose="020F0502020204030204" pitchFamily="34" charset="0"/>
              </a:rPr>
              <a:t>Text editing</a:t>
            </a:r>
          </a:p>
          <a:p>
            <a:pPr marL="0" indent="0">
              <a:buNone/>
            </a:pPr>
            <a:r>
              <a:rPr lang="en-US" sz="2000" dirty="0">
                <a:latin typeface="Calibri" panose="020F0502020204030204" pitchFamily="34" charset="0"/>
                <a:cs typeface="Calibri" panose="020F0502020204030204" pitchFamily="34" charset="0"/>
              </a:rPr>
              <a:t>	Logistic regression is a popular choice in many natural language processing tasks. First, the text preprocessing is performed, then features are extracted, and finally, logistic regression is used to make some claim about a text fragment. Toxic speech detection, topic classification for questions to support, and email sorting are examples where logistic regression shows good results.</a:t>
            </a:r>
          </a:p>
          <a:p>
            <a:pPr marL="0" indent="0">
              <a:buNone/>
            </a:pPr>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9156089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1B4921-A02C-2A4F-AC3A-6ED9C2201BC8}"/>
              </a:ext>
            </a:extLst>
          </p:cNvPr>
          <p:cNvSpPr>
            <a:spLocks noGrp="1"/>
          </p:cNvSpPr>
          <p:nvPr>
            <p:ph type="title"/>
          </p:nvPr>
        </p:nvSpPr>
        <p:spPr>
          <a:xfrm>
            <a:off x="1640156" y="295541"/>
            <a:ext cx="8911687" cy="651237"/>
          </a:xfrm>
        </p:spPr>
        <p:txBody>
          <a:bodyPr>
            <a:normAutofit/>
          </a:bodyPr>
          <a:lstStyle/>
          <a:p>
            <a:r>
              <a:rPr lang="en-US" sz="3200" dirty="0">
                <a:latin typeface="Calibri" panose="020F0502020204030204" pitchFamily="34" charset="0"/>
                <a:cs typeface="Calibri" panose="020F0502020204030204" pitchFamily="34" charset="0"/>
              </a:rPr>
              <a:t>Pros and Cons of Logistic Regression</a:t>
            </a:r>
          </a:p>
        </p:txBody>
      </p:sp>
      <p:sp>
        <p:nvSpPr>
          <p:cNvPr id="3" name="Content Placeholder 2">
            <a:extLst>
              <a:ext uri="{FF2B5EF4-FFF2-40B4-BE49-F238E27FC236}">
                <a16:creationId xmlns:a16="http://schemas.microsoft.com/office/drawing/2014/main" id="{4A5EFCB1-E7F4-DF49-8E33-8D14B9FFF40B}"/>
              </a:ext>
            </a:extLst>
          </p:cNvPr>
          <p:cNvSpPr>
            <a:spLocks noGrp="1"/>
          </p:cNvSpPr>
          <p:nvPr>
            <p:ph idx="1"/>
          </p:nvPr>
        </p:nvSpPr>
        <p:spPr>
          <a:xfrm>
            <a:off x="1636442" y="1327484"/>
            <a:ext cx="10010125" cy="5073315"/>
          </a:xfrm>
        </p:spPr>
        <p:txBody>
          <a:bodyPr>
            <a:normAutofit/>
          </a:bodyPr>
          <a:lstStyle/>
          <a:p>
            <a:pPr marL="0" indent="0">
              <a:buNone/>
            </a:pPr>
            <a:r>
              <a:rPr lang="en-US" sz="2800" b="1" dirty="0">
                <a:latin typeface="Calibri" panose="020F0502020204030204" pitchFamily="34" charset="0"/>
                <a:cs typeface="Calibri" panose="020F0502020204030204" pitchFamily="34" charset="0"/>
              </a:rPr>
              <a:t>Disadvantages of logistic regression:</a:t>
            </a:r>
          </a:p>
          <a:p>
            <a:pPr lvl="0"/>
            <a:r>
              <a:rPr lang="en-US" sz="2000" dirty="0">
                <a:latin typeface="Calibri" panose="020F0502020204030204" pitchFamily="34" charset="0"/>
                <a:cs typeface="Calibri" panose="020F0502020204030204" pitchFamily="34" charset="0"/>
              </a:rPr>
              <a:t>Logistic Regression </a:t>
            </a:r>
            <a:r>
              <a:rPr lang="en-US" sz="2000" b="1" dirty="0">
                <a:latin typeface="Calibri" panose="020F0502020204030204" pitchFamily="34" charset="0"/>
                <a:cs typeface="Calibri" panose="020F0502020204030204" pitchFamily="34" charset="0"/>
              </a:rPr>
              <a:t>requires a large dataset</a:t>
            </a:r>
            <a:r>
              <a:rPr lang="en-US" sz="2000" dirty="0">
                <a:latin typeface="Calibri" panose="020F0502020204030204" pitchFamily="34" charset="0"/>
                <a:cs typeface="Calibri" panose="020F0502020204030204" pitchFamily="34" charset="0"/>
              </a:rPr>
              <a:t> and sufficient training examples for all the categories it needs to identify.</a:t>
            </a:r>
          </a:p>
          <a:p>
            <a:pPr lvl="0"/>
            <a:r>
              <a:rPr lang="en-US" sz="2000" b="1" dirty="0">
                <a:latin typeface="Calibri" panose="020F0502020204030204" pitchFamily="34" charset="0"/>
                <a:cs typeface="Calibri" panose="020F0502020204030204" pitchFamily="34" charset="0"/>
              </a:rPr>
              <a:t>Each training example should be independent of all the other examples in the dataset</a:t>
            </a:r>
            <a:r>
              <a:rPr lang="en-US" sz="2000" dirty="0">
                <a:latin typeface="Calibri" panose="020F0502020204030204" pitchFamily="34" charset="0"/>
                <a:cs typeface="Calibri" panose="020F0502020204030204" pitchFamily="34" charset="0"/>
              </a:rPr>
              <a:t>. If they are related in some way, then the </a:t>
            </a:r>
            <a:r>
              <a:rPr lang="en-US" sz="2000" b="1" dirty="0">
                <a:latin typeface="Calibri" panose="020F0502020204030204" pitchFamily="34" charset="0"/>
                <a:cs typeface="Calibri" panose="020F0502020204030204" pitchFamily="34" charset="0"/>
              </a:rPr>
              <a:t>model will give inaccurate results. </a:t>
            </a:r>
            <a:r>
              <a:rPr lang="en-US" sz="2000" dirty="0">
                <a:latin typeface="Calibri" panose="020F0502020204030204" pitchFamily="34" charset="0"/>
                <a:cs typeface="Calibri" panose="020F0502020204030204" pitchFamily="34" charset="0"/>
              </a:rPr>
              <a:t>For example, some scientific research techniques rely on multiple observations on the same individuals. This technique can't be used in such cases.</a:t>
            </a:r>
          </a:p>
          <a:p>
            <a:pPr lvl="0"/>
            <a:r>
              <a:rPr lang="en-US" sz="2000" dirty="0">
                <a:latin typeface="Calibri" panose="020F0502020204030204" pitchFamily="34" charset="0"/>
                <a:cs typeface="Calibri" panose="020F0502020204030204" pitchFamily="34" charset="0"/>
              </a:rPr>
              <a:t>A disadvantage of it is that we can’t solve non-linear problems with logistic regression since its decision surface is linear. </a:t>
            </a:r>
          </a:p>
          <a:p>
            <a:pPr lvl="0"/>
            <a:r>
              <a:rPr lang="en-US" sz="2000" dirty="0">
                <a:latin typeface="Calibri" panose="020F0502020204030204" pitchFamily="34" charset="0"/>
                <a:cs typeface="Calibri" panose="020F0502020204030204" pitchFamily="34" charset="0"/>
              </a:rPr>
              <a:t>Another disadvantage is its high reliance on a proper presentation of your data. This means that logistic regression is not a useful tool unless you have already identified all the important independent variables.</a:t>
            </a:r>
          </a:p>
          <a:p>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5024244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3E20601-F63E-874A-90EC-64BD547E7D54}"/>
              </a:ext>
            </a:extLst>
          </p:cNvPr>
          <p:cNvSpPr>
            <a:spLocks noGrp="1"/>
          </p:cNvSpPr>
          <p:nvPr>
            <p:ph idx="1"/>
          </p:nvPr>
        </p:nvSpPr>
        <p:spPr>
          <a:xfrm>
            <a:off x="1915442" y="509336"/>
            <a:ext cx="9803315" cy="6059905"/>
          </a:xfrm>
        </p:spPr>
        <p:txBody>
          <a:bodyPr>
            <a:normAutofit/>
          </a:bodyPr>
          <a:lstStyle/>
          <a:p>
            <a:pPr marL="0" indent="0">
              <a:buNone/>
            </a:pPr>
            <a:r>
              <a:rPr lang="en-US" sz="2800" b="1" dirty="0">
                <a:latin typeface="Calibri" panose="020F0502020204030204" pitchFamily="34" charset="0"/>
                <a:cs typeface="Calibri" panose="020F0502020204030204" pitchFamily="34" charset="0"/>
              </a:rPr>
              <a:t>Advantages of logistic regression:</a:t>
            </a:r>
          </a:p>
          <a:p>
            <a:pPr marL="0" indent="0">
              <a:buNone/>
            </a:pPr>
            <a:endParaRPr lang="en-US" sz="2000" b="1"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It is a widely used technique because it is very efficient, does not require too many computational resources, it’s highly interpretable, it doesn’t require input features to be scaled, it doesn’t require any tuning, it’s easy to regularize, and it outputs well-calibrated predicted probabilities.</a:t>
            </a:r>
          </a:p>
          <a:p>
            <a:r>
              <a:rPr lang="en-US" sz="2000" dirty="0">
                <a:latin typeface="Calibri" panose="020F0502020204030204" pitchFamily="34" charset="0"/>
                <a:cs typeface="Calibri" panose="020F0502020204030204" pitchFamily="34" charset="0"/>
              </a:rPr>
              <a:t>It is incredibly easy to implement and very efficient to train.</a:t>
            </a:r>
          </a:p>
          <a:p>
            <a:r>
              <a:rPr lang="en-US" sz="2000" dirty="0">
                <a:latin typeface="Calibri" panose="020F0502020204030204" pitchFamily="34" charset="0"/>
                <a:cs typeface="Calibri" panose="020F0502020204030204" pitchFamily="34" charset="0"/>
              </a:rPr>
              <a:t>Logistic regression is realized in many statistical packages such as SAS, STATISTICA, R packages, and other tools. This makes it easy to use even if you do not have an advanced machine learning team for your task </a:t>
            </a:r>
          </a:p>
          <a:p>
            <a:r>
              <a:rPr lang="en-US" sz="2000" dirty="0">
                <a:latin typeface="Calibri" panose="020F0502020204030204" pitchFamily="34" charset="0"/>
                <a:cs typeface="Calibri" panose="020F0502020204030204" pitchFamily="34" charset="0"/>
              </a:rPr>
              <a:t>Lastly, the most significant advantage of logistic regression over neural networks is transparency. Neural networks work as a black box - you never know why it makes one or another decision. There are a lot of highly regulated industries where this approach is not acceptable. Logistic regression, in contrast, may be called the “white box”. You always know why you rejected a loan application or why your patient’s diagnosis looks good or bad.</a:t>
            </a:r>
          </a:p>
          <a:p>
            <a:endParaRPr lang="en-US" sz="2000" dirty="0">
              <a:latin typeface="Calibri" panose="020F0502020204030204" pitchFamily="34" charset="0"/>
              <a:cs typeface="Calibri" panose="020F0502020204030204" pitchFamily="34" charset="0"/>
            </a:endParaRPr>
          </a:p>
          <a:p>
            <a:endParaRPr lang="en-US" sz="20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370523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828849-5F09-3849-B9A5-3B68A5DC3E1E}"/>
              </a:ext>
            </a:extLst>
          </p:cNvPr>
          <p:cNvSpPr>
            <a:spLocks noGrp="1"/>
          </p:cNvSpPr>
          <p:nvPr>
            <p:ph type="title"/>
          </p:nvPr>
        </p:nvSpPr>
        <p:spPr>
          <a:xfrm>
            <a:off x="1640156" y="184723"/>
            <a:ext cx="8911687" cy="762055"/>
          </a:xfrm>
        </p:spPr>
        <p:txBody>
          <a:bodyPr/>
          <a:lstStyle/>
          <a:p>
            <a:r>
              <a:rPr lang="en-US" dirty="0">
                <a:latin typeface="Calibri" panose="020F0502020204030204" pitchFamily="34" charset="0"/>
                <a:cs typeface="Calibri" panose="020F0502020204030204" pitchFamily="34" charset="0"/>
              </a:rPr>
              <a:t>Conclusion</a:t>
            </a:r>
          </a:p>
        </p:txBody>
      </p:sp>
      <p:sp>
        <p:nvSpPr>
          <p:cNvPr id="3" name="Content Placeholder 2">
            <a:extLst>
              <a:ext uri="{FF2B5EF4-FFF2-40B4-BE49-F238E27FC236}">
                <a16:creationId xmlns:a16="http://schemas.microsoft.com/office/drawing/2014/main" id="{4FF1594D-9029-6F43-A0F6-5B834664537A}"/>
              </a:ext>
            </a:extLst>
          </p:cNvPr>
          <p:cNvSpPr>
            <a:spLocks noGrp="1"/>
          </p:cNvSpPr>
          <p:nvPr>
            <p:ph idx="1"/>
          </p:nvPr>
        </p:nvSpPr>
        <p:spPr>
          <a:xfrm>
            <a:off x="1876693" y="1183574"/>
            <a:ext cx="8915400" cy="3777622"/>
          </a:xfrm>
        </p:spPr>
        <p:txBody>
          <a:bodyPr>
            <a:normAutofit/>
          </a:bodyPr>
          <a:lstStyle/>
          <a:p>
            <a:r>
              <a:rPr lang="en-US" sz="2400" dirty="0">
                <a:latin typeface="Calibri" panose="020F0502020204030204" pitchFamily="34" charset="0"/>
                <a:cs typeface="Calibri" panose="020F0502020204030204" pitchFamily="34" charset="0"/>
              </a:rPr>
              <a:t>We can see clearly that using machine learning we could be able to identify which transaction is fraud and which is not without any manual intervention in the transactions.</a:t>
            </a:r>
          </a:p>
          <a:p>
            <a:r>
              <a:rPr lang="en-US" sz="2400" dirty="0">
                <a:latin typeface="Calibri" panose="020F0502020204030204" pitchFamily="34" charset="0"/>
                <a:cs typeface="Calibri" panose="020F0502020204030204" pitchFamily="34" charset="0"/>
              </a:rPr>
              <a:t>If the data set keep increasing, then we get more accuracy on the predictions that we created using the machine learning models. </a:t>
            </a:r>
          </a:p>
          <a:p>
            <a:r>
              <a:rPr lang="en-US" sz="2400" dirty="0">
                <a:latin typeface="Calibri" panose="020F0502020204030204" pitchFamily="34" charset="0"/>
                <a:cs typeface="Calibri" panose="020F0502020204030204" pitchFamily="34" charset="0"/>
              </a:rPr>
              <a:t>We identify the fraud transactions using multiple variables which are dependent on the class variable which gives accurate results.</a:t>
            </a:r>
          </a:p>
        </p:txBody>
      </p:sp>
    </p:spTree>
    <p:extLst>
      <p:ext uri="{BB962C8B-B14F-4D97-AF65-F5344CB8AC3E}">
        <p14:creationId xmlns:p14="http://schemas.microsoft.com/office/powerpoint/2010/main" val="42365322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AA13FDE-E3C1-B345-8B05-FB139CE98C49}"/>
              </a:ext>
            </a:extLst>
          </p:cNvPr>
          <p:cNvSpPr>
            <a:spLocks noGrp="1"/>
          </p:cNvSpPr>
          <p:nvPr>
            <p:ph idx="1"/>
          </p:nvPr>
        </p:nvSpPr>
        <p:spPr>
          <a:xfrm>
            <a:off x="2192170" y="713874"/>
            <a:ext cx="8915400" cy="3777622"/>
          </a:xfrm>
        </p:spPr>
        <p:txBody>
          <a:bodyPr/>
          <a:lstStyle/>
          <a:p>
            <a:pPr marL="0" indent="0">
              <a:buNone/>
            </a:pPr>
            <a:r>
              <a:rPr lang="en-US" sz="3600" b="1" dirty="0">
                <a:latin typeface="Calibri" panose="020F0502020204030204" pitchFamily="34" charset="0"/>
                <a:cs typeface="Calibri" panose="020F0502020204030204" pitchFamily="34" charset="0"/>
              </a:rPr>
              <a:t>References:</a:t>
            </a:r>
          </a:p>
          <a:p>
            <a:pPr marL="0" indent="0">
              <a:buNone/>
            </a:pPr>
            <a:endParaRPr lang="en-US" sz="2400" b="1" dirty="0">
              <a:latin typeface="Calibri" panose="020F0502020204030204" pitchFamily="34" charset="0"/>
              <a:cs typeface="Calibri" panose="020F0502020204030204" pitchFamily="34" charset="0"/>
            </a:endParaRPr>
          </a:p>
          <a:p>
            <a:pPr marL="0" indent="0">
              <a:buNone/>
            </a:pPr>
            <a:r>
              <a:rPr lang="en-US" dirty="0"/>
              <a:t>https://data-flair.training/blogs/data-science-machine-learning-project-credit-card-fraud-detection/</a:t>
            </a:r>
          </a:p>
          <a:p>
            <a:pPr marL="0" indent="0">
              <a:buNone/>
            </a:pPr>
            <a:r>
              <a:rPr lang="en-US" dirty="0"/>
              <a:t>https://towardsdatascience.com/detecting-credit-card-fraud-using-machine-learning-a3d83423d3b8</a:t>
            </a:r>
          </a:p>
          <a:p>
            <a:pPr marL="0" indent="0">
              <a:buNone/>
            </a:pPr>
            <a:r>
              <a:rPr lang="en-US" dirty="0"/>
              <a:t>https://towardsdatascience.com/logistic-regression-explained-9ee73cede081</a:t>
            </a:r>
          </a:p>
          <a:p>
            <a:pPr marL="0" indent="0">
              <a:buNone/>
            </a:pPr>
            <a:endParaRPr lang="en-US" dirty="0"/>
          </a:p>
        </p:txBody>
      </p:sp>
    </p:spTree>
    <p:extLst>
      <p:ext uri="{BB962C8B-B14F-4D97-AF65-F5344CB8AC3E}">
        <p14:creationId xmlns:p14="http://schemas.microsoft.com/office/powerpoint/2010/main" val="1618551558"/>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otalTime>1288</TotalTime>
  <Words>1770</Words>
  <Application>Microsoft Macintosh PowerPoint</Application>
  <PresentationFormat>Widescreen</PresentationFormat>
  <Paragraphs>104</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Century Gothic</vt:lpstr>
      <vt:lpstr>Wingdings 3</vt:lpstr>
      <vt:lpstr>Wisp</vt:lpstr>
      <vt:lpstr>Credit Card Fraud Detection</vt:lpstr>
      <vt:lpstr>Contents</vt:lpstr>
      <vt:lpstr>Introduction to the requirement</vt:lpstr>
      <vt:lpstr>Why machine Learning is needed to detect fraud transactions </vt:lpstr>
      <vt:lpstr>Machine Learning Technique - Regression</vt:lpstr>
      <vt:lpstr>What is Logistic Regression</vt:lpstr>
      <vt:lpstr>PowerPoint Presentation</vt:lpstr>
      <vt:lpstr>PowerPoint Presentation</vt:lpstr>
      <vt:lpstr>How a machine learning algorithm gets implemented</vt:lpstr>
      <vt:lpstr>Data Set</vt:lpstr>
      <vt:lpstr>PowerPoint Presentation</vt:lpstr>
      <vt:lpstr>Real-world use cases of Logistic Regression</vt:lpstr>
      <vt:lpstr>PowerPoint Presentation</vt:lpstr>
      <vt:lpstr>Pros and Cons of Logistic Regression</vt:lpstr>
      <vt:lpstr>PowerPoint Presentation</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Logistic regression</dc:title>
  <dc:creator>Neerukonda, Venkatesh</dc:creator>
  <cp:lastModifiedBy>Neerukonda, Venkatesh</cp:lastModifiedBy>
  <cp:revision>85</cp:revision>
  <dcterms:created xsi:type="dcterms:W3CDTF">2020-12-09T02:03:23Z</dcterms:created>
  <dcterms:modified xsi:type="dcterms:W3CDTF">2020-12-10T22:03:31Z</dcterms:modified>
</cp:coreProperties>
</file>